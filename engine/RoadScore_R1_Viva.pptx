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929"/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Development Cost Breakdown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Cost (LKR '000s)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Software
Tools</c:v>
                </c:pt>
                <c:pt idx="1">
                  <c:v>IoT
Hardware</c:v>
                </c:pt>
                <c:pt idx="2">
                  <c:v>Cloud &amp;
Hosting</c:v>
                </c:pt>
                <c:pt idx="3">
                  <c:v>Testing &amp;
Misc.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120</c:v>
                </c:pt>
                <c:pt idx="2">
                  <c:v>45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8A-4ECB-A3E3-F0CBFF3094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000" b="0" i="0" u="none" strike="noStrike" dirty="0">
                    <a:solidFill>
                      <a:srgbClr val="6B7280"/>
                    </a:solidFill>
                    <a:latin typeface="Arial"/>
                  </a:rPr>
                  <a:t>LKR (‘100s)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Calibri"/>
              </a:rPr>
              <a:t>Projected Revenue Mix (%)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88-453D-BF08-2AA2CC3D71AA}"/>
              </c:ext>
            </c:extLst>
          </c:dPt>
          <c:dPt>
            <c:idx val="1"/>
            <c:bubble3D val="0"/>
            <c:spPr>
              <a:solidFill>
                <a:srgbClr val="1F29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88-453D-BF08-2AA2CC3D71AA}"/>
              </c:ext>
            </c:extLst>
          </c:dPt>
          <c:dPt>
            <c:idx val="2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88-453D-BF08-2AA2CC3D71AA}"/>
              </c:ext>
            </c:extLst>
          </c:dPt>
          <c:dPt>
            <c:idx val="3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488-453D-BF08-2AA2CC3D71AA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88-453D-BF08-2AA2CC3D71AA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88-453D-BF08-2AA2CC3D71AA}"/>
                </c:ext>
              </c:extLst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88-453D-BF08-2AA2CC3D71AA}"/>
                </c:ext>
              </c:extLst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488-453D-BF08-2AA2CC3D71AA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Fleet Safety
(per vehicle)</c:v>
                </c:pt>
                <c:pt idx="1">
                  <c:v>Road Intelligence
API</c:v>
                </c:pt>
                <c:pt idx="2">
                  <c:v>Insurance
Risk API</c:v>
                </c:pt>
                <c:pt idx="3">
                  <c:v>Data
Licensing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488-453D-BF08-2AA2CC3D71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55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9692640" y="-2103120"/>
            <a:ext cx="5943600" cy="59436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-3167553" y="4206240"/>
            <a:ext cx="4754880" cy="475488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79941" y="2188035"/>
            <a:ext cx="82296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70915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RoadScore R1</a:t>
            </a:r>
            <a:endParaRPr lang="en-US" sz="5000" dirty="0">
              <a:solidFill>
                <a:srgbClr val="22C55E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2999232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Road-Aware Mobility Intelligence Platform for Fairer Driver Risk Scoring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
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Higher Diploma in Software Engineering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" y="5074920"/>
            <a:ext cx="384048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257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Computing and Engineering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Institute of Business Management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645E914-882F-E633-B8ED-D2AD8DF39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27659"/>
            <a:ext cx="4855801" cy="7711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RESEARCH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&amp; Domain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 sits at the intersection of fleet telematics, driver safety and road-condition intelligence — combining vehicle sensor data with spatial evidence to understand not just what happened on the road, but why.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96731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96731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0846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Telematics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3000" y="3096279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vehicles, drivers and trips for commercial and logistics fleets.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373998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73998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71712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Safety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3827799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risky driving events and coaching drivers with explainable scores.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4473487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447348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44864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Telematics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453551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insurance driven by real, risk-adjusted driving data.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523045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23045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5187151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Road-Condition Intelligence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5264787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ordinary vehicles into a distributed road-monitoring network.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1508760"/>
            <a:ext cx="5120640" cy="4709160"/>
          </a:xfrm>
          <a:prstGeom prst="roundRect">
            <a:avLst>
              <a:gd name="adj" fmla="val 233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783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24028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240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Telemetry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72491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2953512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295351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Validation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3438144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03720" y="3666744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366674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Event Detection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4151376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903720" y="4379976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437997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Correlation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864608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5093208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509320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Road Attribution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03720" y="5806440"/>
            <a:ext cx="438912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5806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Score · Road Intelligence · Routing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RESEARCH PROJECT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an abnormal driving event happens, was it caused by the driver or by the road?” — ordinary driver-monitoring systems cannot answer this reliably.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587752"/>
            <a:ext cx="411480" cy="411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87752"/>
            <a:ext cx="411480" cy="411480"/>
          </a:xfrm>
          <a:prstGeom prst="round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10896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driver penalties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04672" y="3447288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are penalised for harsh events caused by potholes or road defects, not their own behaviour.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23317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4581144" y="2587752"/>
            <a:ext cx="411480" cy="41148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4581144" y="2587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81144" y="310896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driver / road attribution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81144" y="3447288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treat every harsh-acceleration or impact event as a driver fault by default.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23317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357616" y="2587752"/>
            <a:ext cx="411480" cy="41148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8357616" y="2587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310896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speed limits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7616" y="3447288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Speeding detection ignores real road and traffic context, producing false positives.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04672" y="4599432"/>
            <a:ext cx="411480" cy="41148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1206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road data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4672" y="5458968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authorities lack a live, crowdsourced view of pothole hotspots and deteriorating segments.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25112" y="434340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4581144" y="4599432"/>
            <a:ext cx="411480" cy="41148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581144" y="4599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81144" y="512064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Unexplainable scores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581144" y="5458968"/>
            <a:ext cx="30083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see a single risk number with no breakdown of what drove the score, which is hard to trust or contest.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in Current Research &amp;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solves driver-behaviour detection and road-anomaly detection separately — no accessible system fuses both into a single, explainable attribution and scoring model.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36392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53512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Driver-behaviour models: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every harsh event is driver-caused, with no mechanism to rule out road defects.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58184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75304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Road-anomaly detection: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identifying potholes and rough segments, but rarely feeds that evidence back into a driver's risk score.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379976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197096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&amp; confidence: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systems require independent, multi-device confirmation before treating a location as a genuine road defect.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001768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188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 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 are commonly delivered as a single number, without an auditable breakdown drivers or insurers can trust.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by Other Researchers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09928"/>
            <a:ext cx="457200" cy="493776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09928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0" y="1655064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Bhoraskar et al. (2012) — Wolverine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15000" y="1655064"/>
            <a:ext cx="5715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Showed smartphone accelerometer and GPS data can estimate road and traffic conditions, an early foundation for phone-based road sensing.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551176"/>
            <a:ext cx="457200" cy="493776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551176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496312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Springer, Intl. J. Pavement Research (2020)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715000" y="2496312"/>
            <a:ext cx="5715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that combining several accelerometer-based algorithms improves pothole-detection accuracy over any single threshold method.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392424"/>
            <a:ext cx="457200" cy="493776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392424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337560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/ Sensors (2020) — ML Pothole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3337560"/>
            <a:ext cx="5715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machine-learning classifiers to smartphone sensor windows, reporting strong precision and recall for pothole identification.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23944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233672"/>
            <a:ext cx="457200" cy="493776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233672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71600" y="4178808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Ferreira et al. — Driver Behaviour Profiling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715000" y="4178808"/>
            <a:ext cx="5715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smartphone sensor and classifier combinations for driver-aggressiveness profiling, motivated by usage-based insurance.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65192"/>
            <a:ext cx="11064240" cy="713232"/>
          </a:xfrm>
          <a:prstGeom prst="roundRect">
            <a:avLst>
              <a:gd name="adj" fmla="val 10256"/>
            </a:avLst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074920"/>
            <a:ext cx="457200" cy="493776"/>
          </a:xfrm>
          <a:prstGeom prst="roundRect">
            <a:avLst>
              <a:gd name="adj" fmla="val 12000"/>
            </a:avLst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074920"/>
            <a:ext cx="457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5020056"/>
            <a:ext cx="42062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(2023) — Distracted-Driving Review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15000" y="5020056"/>
            <a:ext cx="5715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review of 65 studies confirming smartphone sensors are now a mainstream substitute for proprietary in-vehicle monitoring.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INNOVATIVE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Outline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 combines vehicle sensors, physics-based event detection, geospatial aggregation, road-condition consensus and explainable driver scoring into one pipeline.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86000"/>
            <a:ext cx="5349240" cy="68580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Intelligence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332841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risky driving events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01421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8404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driver behaviour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70001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26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score changed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" y="5385816"/>
            <a:ext cx="109728" cy="10972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2120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driver-caused vs. road-caused events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5349240" cy="356616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2286000"/>
            <a:ext cx="5349240" cy="685800"/>
          </a:xfrm>
          <a:prstGeom prst="roundRect">
            <a:avLst/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286000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Intelligence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583680" y="3328416"/>
            <a:ext cx="109728" cy="10972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1546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repeated road impacts &amp; defects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4014216"/>
            <a:ext cx="109728" cy="10972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8404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observations spatially (H3)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4700016"/>
            <a:ext cx="109728" cy="10972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5262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problems using multiple vehicles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583680" y="5385816"/>
            <a:ext cx="109728" cy="10972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52120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road-risk &amp; quality map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INNOVATIVE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Innovative Features of the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819656"/>
            <a:ext cx="457200" cy="45720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8096" y="242316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/ Road Attribution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898648"/>
            <a:ext cx="3145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invariant: only driver-attributed events can ever reduce a driver's score. Road-attributed events cannot.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34256" y="1600200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819656"/>
            <a:ext cx="457200" cy="45720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53712" y="242316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2898648"/>
            <a:ext cx="3145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Braking, cornering and swerving are validated against real vehicle physics, not raw threshold spikes.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19872" y="1600200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9328" y="1819656"/>
            <a:ext cx="457200" cy="45720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18196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9328" y="2423160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Consensus (H3)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9328" y="2898648"/>
            <a:ext cx="3145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defects require independent confirmation from multiple vehicles at the same H3 cell before being confirmed.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33088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4352544"/>
            <a:ext cx="457200" cy="45720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" y="49560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Speeding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5431536"/>
            <a:ext cx="3145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historical p85 road-speed baselines per H3 cell instead of a single hard-coded speed limit.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34256" y="4133088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53712" y="4352544"/>
            <a:ext cx="457200" cy="45720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53712" y="49560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Scoring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5431536"/>
            <a:ext cx="3145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shows its full breakdown — braking, cornering, impacts — so drivers can see and contest it.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19872" y="4133088"/>
            <a:ext cx="3584448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39328" y="4352544"/>
            <a:ext cx="457200" cy="457200"/>
          </a:xfrm>
          <a:prstGeom prst="roundRect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9328" y="4956048"/>
            <a:ext cx="3127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Routing (roadmap)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5431536"/>
            <a:ext cx="3145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road-risk data feeds forward into safer, smoother route recommendations.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Demo —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819656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MCU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194560"/>
            <a:ext cx="22768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acquisition, timestamping, buffering, batching (IMU · GNSS · Acoustic)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154680" y="2148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1819656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547872" y="2194560"/>
            <a:ext cx="22768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detection, H3 spatial processing, attribution &amp; scoring — source of truth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89320" y="2148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1819656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82512" y="2194560"/>
            <a:ext cx="22768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cockpit · Fleet cockpit · Road intelligence dashboards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21488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9217152" y="1819656"/>
            <a:ext cx="2276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17152" y="2194560"/>
            <a:ext cx="22768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PostgreSQL/PostGIS-style store for trips, events, road defects &amp; H3 cells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1064240" cy="2651760"/>
          </a:xfrm>
          <a:prstGeom prst="roundRect">
            <a:avLst>
              <a:gd name="adj" fmla="val 41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611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COCKPIT — LIVE VIEW (ILLUSTRATIVE)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3232" y="3913632"/>
            <a:ext cx="6309360" cy="192024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/>
        </p:spPr>
      </p:sp>
      <p:sp>
        <p:nvSpPr>
          <p:cNvPr id="22" name="Shape 20"/>
          <p:cNvSpPr/>
          <p:nvPr/>
        </p:nvSpPr>
        <p:spPr>
          <a:xfrm>
            <a:off x="1463040" y="429768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2377440" y="484632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Shape 22"/>
          <p:cNvSpPr/>
          <p:nvPr/>
        </p:nvSpPr>
        <p:spPr>
          <a:xfrm>
            <a:off x="3108960" y="448056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Shape 23"/>
          <p:cNvSpPr/>
          <p:nvPr/>
        </p:nvSpPr>
        <p:spPr>
          <a:xfrm>
            <a:off x="4114800" y="512064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4937760" y="438912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7" name="Shape 25"/>
          <p:cNvSpPr/>
          <p:nvPr/>
        </p:nvSpPr>
        <p:spPr>
          <a:xfrm>
            <a:off x="5760720" y="493776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548640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Shape 27"/>
          <p:cNvSpPr/>
          <p:nvPr/>
        </p:nvSpPr>
        <p:spPr>
          <a:xfrm>
            <a:off x="5394960" y="4572000"/>
            <a:ext cx="128016" cy="12801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623560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road hazards &amp; live vehicles by H3 cell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06640" y="4023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406640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Score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942832" y="4023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8942832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Trips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479024" y="40233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10479024" y="4617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Defects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406640" y="5074920"/>
            <a:ext cx="41605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5212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braking: 3   ·   Cornering: 2   ·   Road-attributed: 3 (no penalty)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SOLUTION DEVELOPMENT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Development Cost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56855002"/>
              </p:ext>
            </p:extLst>
          </p:nvPr>
        </p:nvGraphicFramePr>
        <p:xfrm>
          <a:off x="548640" y="1554480"/>
          <a:ext cx="60350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903720" y="160020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
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time across MCU firmware, engine, web app and DB (largest cost driver).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03720" y="2587752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Prototyping
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IMU, GNSS and acoustic sensor modules for prototype vehicle units.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03720" y="3575304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Tools &amp; Licensing
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IDEs, cloud SDKs, mapping/H3 tooling and testing services.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03720" y="4562856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Hosting
</a:t>
            </a: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hosting, database and telemetry ingestion during development.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 AND BUSINESS MODEL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Market &amp; Business Model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5212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64592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3"/>
          <p:cNvSpPr/>
          <p:nvPr/>
        </p:nvSpPr>
        <p:spPr>
          <a:xfrm>
            <a:off x="59893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9400" y="16276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29400" y="19202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Logistics, ride-hailing and delivery fleets seeking safety &amp; driver coaching.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9320" y="254203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2542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29400" y="252374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28163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Usage-based insurance providers needing risk-adjusted, road-aware driver data.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343814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629400" y="34198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Authorities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29400" y="371246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and highway bodies needing live pothole &amp; defect intelligence.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89320" y="4334256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8" name="Text 15"/>
          <p:cNvSpPr/>
          <p:nvPr/>
        </p:nvSpPr>
        <p:spPr>
          <a:xfrm>
            <a:off x="598932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629400" y="4315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Providers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29400" y="46085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and routing companies wanting road-risk-aware ETAs.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89320" y="525780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F3F4F6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5257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per-vehicle/month subscriptions + API access + data licensing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RoadScore R1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DETAILS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83080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0" y="178308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Number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350008"/>
            <a:ext cx="10881360" cy="566928"/>
          </a:xfrm>
          <a:prstGeom prst="rect">
            <a:avLst/>
          </a:prstGeom>
          <a:solidFill>
            <a:srgbClr val="27314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50008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P SAPARAMADU	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0" y="235000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COHNDSE252F-014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916936"/>
            <a:ext cx="10881360" cy="5669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16936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 D DE SILVA	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0" y="291693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COHNDSE252F-034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83864"/>
            <a:ext cx="10881360" cy="566928"/>
          </a:xfrm>
          <a:prstGeom prst="rect">
            <a:avLst/>
          </a:prstGeom>
          <a:solidFill>
            <a:srgbClr val="273140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4400" y="3483864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 T DILLAN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348386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COHNDSE252F-046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50792"/>
            <a:ext cx="10881360" cy="56692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50792"/>
            <a:ext cx="5943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Y T PERERA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405079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COHNDSE252F-063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1110</Words>
  <Application>Microsoft Office PowerPoint</Application>
  <PresentationFormat>Widescreen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Institute of Business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NIBM HDSE Final Project</dc:creator>
  <cp:lastModifiedBy>Timesh Dillon</cp:lastModifiedBy>
  <cp:revision>2</cp:revision>
  <dcterms:created xsi:type="dcterms:W3CDTF">2026-08-18T05:41:28Z</dcterms:created>
  <dcterms:modified xsi:type="dcterms:W3CDTF">2026-08-18T06:59:34Z</dcterms:modified>
</cp:coreProperties>
</file>